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Prata" charset="1" panose="00000500000000000000"/>
      <p:regular r:id="rId11"/>
    </p:embeddedFont>
    <p:embeddedFont>
      <p:font typeface="Raleway" charset="1" panose="020B0503030101060003"/>
      <p:regular r:id="rId12"/>
    </p:embeddedFont>
    <p:embeddedFont>
      <p:font typeface="Raleway Bold" charset="1" panose="020B0803030101060003"/>
      <p:regular r:id="rId13"/>
    </p:embeddedFont>
    <p:embeddedFont>
      <p:font typeface="Glacial Indifference" charset="1" panose="00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https://www.notion.com" TargetMode="External" Type="http://schemas.openxmlformats.org/officeDocument/2006/relationships/hyperlink"/><Relationship Id="rId7" Target="https://www.google.com/search?q=Google+Drive&amp;sca_esv=3e2b86a70d6d9be2&amp;rlz=1C5CHFA_enIN1098IN1098&amp;biw=1200&amp;bih=860&amp;sxsrf=ANbL-n77U2RAS4hobtWSSUZBGySoeEUvYA%3A1774935882625&amp;ei=Sl_LabDrJZyv0-kPyvr-8Aw&amp;oq=what+is+google+cl&amp;gs_lp=Egxnd3Mtd2l6LXNlcnAiEXdoYXQgaXMgZ29vZ2xlIGNsKgIIADIKEAAYgAQYFBiHAjIFEAAYgAQyChAAGIAEGBQYhwIyBRAAGIAEMgUQABiABDIFEAAYgAQyBRAAGIAEMgUQABiABDIFEAAYgAQyBRAAGIAESNxOUPUFWIJCcAF4AZABAJgBngKgAbgSqgEGMC4xMy4yuAEDyAEA-AEBmAIOoALBEMICChAAGEcY1gQYsAPCAg0QABiABBiKBRhDGLADwgIOEAAY5AIY1gQYsAPYAQHCAhMQLhiABBiKBRhDGMgDGLAD2AEBwgIZEC4YgAQYigUYQxjHARjRAxjIAxiwA9gBAcICBBAjGCfCAgoQABiABBiKBRhDwgIIEAAYgAQYsQPCAgUQLhiABMICDhAAGIAEGIoFGLEDGIMBwgILEAAYgAQYigUYkQLCAg4QABiABBiKBRiRAhixA8ICCxAAGIAEGLEDGIMBwgIMEAAYgAQYChgLGLEDwgIJEAAYgAQYChgLwgIKEAAYgAQYDRixA8ICBxAAGIAEGA2YAwCIBgGQBhO6BgYIARABGAmSBwYxLjEyLjGgB_lYsgcGMC4xMi4xuAe1EMIHBjItMTEuM8gHXYAIAQ&amp;sclient=gws-wiz-serp&amp;ved=2ahUKEwjN4bvct8mTAxViklYBHXSkDM8QgK4QegYIAQgAEAQ" TargetMode="External" Type="http://schemas.openxmlformats.org/officeDocument/2006/relationships/hyperlink"/><Relationship Id="rId8" Target="https://www.google.com/search?q=Meet&amp;sca_esv=3e2b86a70d6d9be2&amp;rlz=1C5CHFA_enIN1098IN1098&amp;biw=1200&amp;bih=860&amp;sxsrf=ANbL-n77U2RAS4hobtWSSUZBGySoeEUvYA%3A1774935882625&amp;ei=Sl_LabDrJZyv0-kPyvr-8Aw&amp;oq=what+is+google+cl&amp;gs_lp=Egxnd3Mtd2l6LXNlcnAiEXdoYXQgaXMgZ29vZ2xlIGNsKgIIADIKEAAYgAQYFBiHAjIFEAAYgAQyChAAGIAEGBQYhwIyBRAAGIAEMgUQABiABDIFEAAYgAQyBRAAGIAEMgUQABiABDIFEAAYgAQyBRAAGIAESNxOUPUFWIJCcAF4AZABAJgBngKgAbgSqgEGMC4xMy4yuAEDyAEA-AEBmAIOoALBEMICChAAGEcY1gQYsAPCAg0QABiABBiKBRhDGLADwgIOEAAY5AIY1gQYsAPYAQHCAhMQLhiABBiKBRhDGMgDGLAD2AEBwgIZEC4YgAQYigUYQxjHARjRAxjIAxiwA9gBAcICBBAjGCfCAgoQABiABBiKBRhDwgIIEAAYgAQYsQPCAgUQLhiABMICDhAAGIAEGIoFGLEDGIMBwgILEAAYgAQYigUYkQLCAg4QABiABBiKBRiRAhixA8ICCxAAGIAEGLEDGIMBwgIMEAAYgAQYChgLGLEDwgIJEAAYgAQYChgLwgIKEAAYgAQYDRixA8ICBxAAGIAEGA2YAwCIBgGQBhO6BgYIARABGAmSBwYxLjEyLjGgB_lYsgcGMC4xMi4xuAe1EMIHBjItMTEuM8gHXYAIAQ&amp;sclient=gws-wiz-serp&amp;ved=2ahUKEwjN4bvct8mTAxViklYBHXSkDM8QgK4QegYIAQgAEAU"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DAD7CD"/>
        </a:solidFill>
      </p:bgPr>
    </p:bg>
    <p:spTree>
      <p:nvGrpSpPr>
        <p:cNvPr id="1" name=""/>
        <p:cNvGrpSpPr/>
        <p:nvPr/>
      </p:nvGrpSpPr>
      <p:grpSpPr>
        <a:xfrm>
          <a:off x="0" y="0"/>
          <a:ext cx="0" cy="0"/>
          <a:chOff x="0" y="0"/>
          <a:chExt cx="0" cy="0"/>
        </a:xfrm>
      </p:grpSpPr>
      <p:sp>
        <p:nvSpPr>
          <p:cNvPr name="TextBox 2" id="2"/>
          <p:cNvSpPr txBox="true"/>
          <p:nvPr/>
        </p:nvSpPr>
        <p:spPr>
          <a:xfrm rot="0">
            <a:off x="2776554" y="3664369"/>
            <a:ext cx="12734892" cy="2966085"/>
          </a:xfrm>
          <a:prstGeom prst="rect">
            <a:avLst/>
          </a:prstGeom>
        </p:spPr>
        <p:txBody>
          <a:bodyPr anchor="t" rtlCol="false" tIns="0" lIns="0" bIns="0" rIns="0">
            <a:spAutoFit/>
          </a:bodyPr>
          <a:lstStyle/>
          <a:p>
            <a:pPr algn="ctr">
              <a:lnSpc>
                <a:spcPts val="11400"/>
              </a:lnSpc>
            </a:pPr>
            <a:r>
              <a:rPr lang="en-US" sz="11400">
                <a:solidFill>
                  <a:srgbClr val="344E41"/>
                </a:solidFill>
                <a:latin typeface="Prata"/>
                <a:ea typeface="Prata"/>
                <a:cs typeface="Prata"/>
                <a:sym typeface="Prata"/>
              </a:rPr>
              <a:t>AWARENESS</a:t>
            </a:r>
          </a:p>
          <a:p>
            <a:pPr algn="ctr">
              <a:lnSpc>
                <a:spcPts val="11400"/>
              </a:lnSpc>
            </a:pPr>
            <a:r>
              <a:rPr lang="en-US" sz="11400">
                <a:solidFill>
                  <a:srgbClr val="344E41"/>
                </a:solidFill>
                <a:latin typeface="Prata"/>
                <a:ea typeface="Prata"/>
                <a:cs typeface="Prata"/>
                <a:sym typeface="Prata"/>
              </a:rPr>
              <a:t>INFOGRAPHIC</a:t>
            </a:r>
          </a:p>
        </p:txBody>
      </p:sp>
      <p:grpSp>
        <p:nvGrpSpPr>
          <p:cNvPr name="Group 3" id="3"/>
          <p:cNvGrpSpPr/>
          <p:nvPr/>
        </p:nvGrpSpPr>
        <p:grpSpPr>
          <a:xfrm rot="0">
            <a:off x="0" y="9258300"/>
            <a:ext cx="18288000" cy="1028700"/>
            <a:chOff x="0" y="0"/>
            <a:chExt cx="12372622" cy="695960"/>
          </a:xfrm>
        </p:grpSpPr>
        <p:sp>
          <p:nvSpPr>
            <p:cNvPr name="Freeform 4" id="4"/>
            <p:cNvSpPr/>
            <p:nvPr/>
          </p:nvSpPr>
          <p:spPr>
            <a:xfrm flipH="false" flipV="false" rot="0">
              <a:off x="0" y="0"/>
              <a:ext cx="12372622" cy="695960"/>
            </a:xfrm>
            <a:custGeom>
              <a:avLst/>
              <a:gdLst/>
              <a:ahLst/>
              <a:cxnLst/>
              <a:rect r="r" b="b" t="t" l="l"/>
              <a:pathLst>
                <a:path h="695960" w="12372622">
                  <a:moveTo>
                    <a:pt x="0" y="0"/>
                  </a:moveTo>
                  <a:lnTo>
                    <a:pt x="12372622" y="0"/>
                  </a:lnTo>
                  <a:lnTo>
                    <a:pt x="12372622" y="695960"/>
                  </a:lnTo>
                  <a:lnTo>
                    <a:pt x="0" y="695960"/>
                  </a:lnTo>
                  <a:close/>
                </a:path>
              </a:pathLst>
            </a:custGeom>
            <a:solidFill>
              <a:srgbClr val="A3B18A"/>
            </a:solidFill>
          </p:spPr>
        </p:sp>
      </p:grpSp>
      <p:sp>
        <p:nvSpPr>
          <p:cNvPr name="TextBox 5" id="5"/>
          <p:cNvSpPr txBox="true"/>
          <p:nvPr/>
        </p:nvSpPr>
        <p:spPr>
          <a:xfrm rot="0">
            <a:off x="2776554" y="2399939"/>
            <a:ext cx="12734892" cy="873125"/>
          </a:xfrm>
          <a:prstGeom prst="rect">
            <a:avLst/>
          </a:prstGeom>
        </p:spPr>
        <p:txBody>
          <a:bodyPr anchor="t" rtlCol="false" tIns="0" lIns="0" bIns="0" rIns="0">
            <a:spAutoFit/>
          </a:bodyPr>
          <a:lstStyle/>
          <a:p>
            <a:pPr algn="ctr">
              <a:lnSpc>
                <a:spcPts val="7000"/>
              </a:lnSpc>
            </a:pPr>
            <a:r>
              <a:rPr lang="en-US" sz="5000">
                <a:solidFill>
                  <a:srgbClr val="344E41"/>
                </a:solidFill>
                <a:latin typeface="Raleway"/>
                <a:ea typeface="Raleway"/>
                <a:cs typeface="Raleway"/>
                <a:sym typeface="Raleway"/>
              </a:rPr>
              <a:t>DIGITAL LITERACY </a:t>
            </a:r>
          </a:p>
        </p:txBody>
      </p:sp>
      <p:sp>
        <p:nvSpPr>
          <p:cNvPr name="TextBox 6" id="6"/>
          <p:cNvSpPr txBox="true"/>
          <p:nvPr/>
        </p:nvSpPr>
        <p:spPr>
          <a:xfrm rot="0">
            <a:off x="6187109" y="9510857"/>
            <a:ext cx="5913783" cy="415290"/>
          </a:xfrm>
          <a:prstGeom prst="rect">
            <a:avLst/>
          </a:prstGeom>
        </p:spPr>
        <p:txBody>
          <a:bodyPr anchor="t" rtlCol="false" tIns="0" lIns="0" bIns="0" rIns="0">
            <a:spAutoFit/>
          </a:bodyPr>
          <a:lstStyle/>
          <a:p>
            <a:pPr algn="ctr">
              <a:lnSpc>
                <a:spcPts val="3359"/>
              </a:lnSpc>
            </a:pPr>
            <a:r>
              <a:rPr lang="en-US" sz="2400">
                <a:solidFill>
                  <a:srgbClr val="344E41"/>
                </a:solidFill>
                <a:latin typeface="Raleway"/>
                <a:ea typeface="Raleway"/>
                <a:cs typeface="Raleway"/>
                <a:sym typeface="Raleway"/>
              </a:rPr>
              <a:t>ARTH RAJ SINGH</a:t>
            </a:r>
          </a:p>
        </p:txBody>
      </p:sp>
      <p:sp>
        <p:nvSpPr>
          <p:cNvPr name="TextBox 7" id="7"/>
          <p:cNvSpPr txBox="true"/>
          <p:nvPr/>
        </p:nvSpPr>
        <p:spPr>
          <a:xfrm rot="0">
            <a:off x="14091936" y="9510857"/>
            <a:ext cx="3167364" cy="415290"/>
          </a:xfrm>
          <a:prstGeom prst="rect">
            <a:avLst/>
          </a:prstGeom>
        </p:spPr>
        <p:txBody>
          <a:bodyPr anchor="t" rtlCol="false" tIns="0" lIns="0" bIns="0" rIns="0">
            <a:spAutoFit/>
          </a:bodyPr>
          <a:lstStyle/>
          <a:p>
            <a:pPr algn="r">
              <a:lnSpc>
                <a:spcPts val="3359"/>
              </a:lnSpc>
            </a:pPr>
            <a:r>
              <a:rPr lang="en-US" sz="2400">
                <a:solidFill>
                  <a:srgbClr val="344E41"/>
                </a:solidFill>
                <a:latin typeface="Raleway"/>
                <a:ea typeface="Raleway"/>
                <a:cs typeface="Raleway"/>
                <a:sym typeface="Raleway"/>
              </a:rPr>
              <a:t>25MIP10048</a:t>
            </a:r>
          </a:p>
        </p:txBody>
      </p:sp>
      <p:sp>
        <p:nvSpPr>
          <p:cNvPr name="TextBox 8" id="8"/>
          <p:cNvSpPr txBox="true"/>
          <p:nvPr/>
        </p:nvSpPr>
        <p:spPr>
          <a:xfrm rot="0">
            <a:off x="1028700" y="9510857"/>
            <a:ext cx="2956891" cy="415290"/>
          </a:xfrm>
          <a:prstGeom prst="rect">
            <a:avLst/>
          </a:prstGeom>
        </p:spPr>
        <p:txBody>
          <a:bodyPr anchor="t" rtlCol="false" tIns="0" lIns="0" bIns="0" rIns="0">
            <a:spAutoFit/>
          </a:bodyPr>
          <a:lstStyle/>
          <a:p>
            <a:pPr algn="l">
              <a:lnSpc>
                <a:spcPts val="3359"/>
              </a:lnSpc>
            </a:pPr>
            <a:r>
              <a:rPr lang="en-US" sz="2400">
                <a:solidFill>
                  <a:srgbClr val="344E41"/>
                </a:solidFill>
                <a:latin typeface="Raleway"/>
                <a:ea typeface="Raleway"/>
                <a:cs typeface="Raleway"/>
                <a:sym typeface="Raleway"/>
              </a:rPr>
              <a:t>2026 March 31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AD7CD"/>
        </a:solidFill>
      </p:bgPr>
    </p:bg>
    <p:spTree>
      <p:nvGrpSpPr>
        <p:cNvPr id="1" name=""/>
        <p:cNvGrpSpPr/>
        <p:nvPr/>
      </p:nvGrpSpPr>
      <p:grpSpPr>
        <a:xfrm>
          <a:off x="0" y="0"/>
          <a:ext cx="0" cy="0"/>
          <a:chOff x="0" y="0"/>
          <a:chExt cx="0" cy="0"/>
        </a:xfrm>
      </p:grpSpPr>
      <p:grpSp>
        <p:nvGrpSpPr>
          <p:cNvPr name="Group 2" id="2"/>
          <p:cNvGrpSpPr/>
          <p:nvPr/>
        </p:nvGrpSpPr>
        <p:grpSpPr>
          <a:xfrm rot="0">
            <a:off x="0" y="9258300"/>
            <a:ext cx="18288000" cy="1028700"/>
            <a:chOff x="0" y="0"/>
            <a:chExt cx="12372622" cy="695960"/>
          </a:xfrm>
        </p:grpSpPr>
        <p:sp>
          <p:nvSpPr>
            <p:cNvPr name="Freeform 3" id="3"/>
            <p:cNvSpPr/>
            <p:nvPr/>
          </p:nvSpPr>
          <p:spPr>
            <a:xfrm flipH="false" flipV="false" rot="0">
              <a:off x="0" y="0"/>
              <a:ext cx="12372622" cy="695960"/>
            </a:xfrm>
            <a:custGeom>
              <a:avLst/>
              <a:gdLst/>
              <a:ahLst/>
              <a:cxnLst/>
              <a:rect r="r" b="b" t="t" l="l"/>
              <a:pathLst>
                <a:path h="695960" w="12372622">
                  <a:moveTo>
                    <a:pt x="0" y="0"/>
                  </a:moveTo>
                  <a:lnTo>
                    <a:pt x="12372622" y="0"/>
                  </a:lnTo>
                  <a:lnTo>
                    <a:pt x="12372622" y="695960"/>
                  </a:lnTo>
                  <a:lnTo>
                    <a:pt x="0" y="695960"/>
                  </a:lnTo>
                  <a:close/>
                </a:path>
              </a:pathLst>
            </a:custGeom>
            <a:solidFill>
              <a:srgbClr val="A3B18A"/>
            </a:solidFill>
          </p:spPr>
        </p:sp>
      </p:grpSp>
      <p:sp>
        <p:nvSpPr>
          <p:cNvPr name="Freeform 4" id="4"/>
          <p:cNvSpPr/>
          <p:nvPr/>
        </p:nvSpPr>
        <p:spPr>
          <a:xfrm flipH="false" flipV="false" rot="0">
            <a:off x="421904" y="4533392"/>
            <a:ext cx="5532805" cy="3691890"/>
          </a:xfrm>
          <a:custGeom>
            <a:avLst/>
            <a:gdLst/>
            <a:ahLst/>
            <a:cxnLst/>
            <a:rect r="r" b="b" t="t" l="l"/>
            <a:pathLst>
              <a:path h="3691890" w="5532805">
                <a:moveTo>
                  <a:pt x="0" y="0"/>
                </a:moveTo>
                <a:lnTo>
                  <a:pt x="5532805" y="0"/>
                </a:lnTo>
                <a:lnTo>
                  <a:pt x="5532805" y="3691890"/>
                </a:lnTo>
                <a:lnTo>
                  <a:pt x="0" y="3691890"/>
                </a:lnTo>
                <a:lnTo>
                  <a:pt x="0" y="0"/>
                </a:lnTo>
                <a:close/>
              </a:path>
            </a:pathLst>
          </a:custGeom>
          <a:blipFill>
            <a:blip r:embed="rId2"/>
            <a:stretch>
              <a:fillRect l="0" t="0" r="0" b="0"/>
            </a:stretch>
          </a:blipFill>
        </p:spPr>
      </p:sp>
      <p:sp>
        <p:nvSpPr>
          <p:cNvPr name="TextBox 5" id="5"/>
          <p:cNvSpPr txBox="true"/>
          <p:nvPr/>
        </p:nvSpPr>
        <p:spPr>
          <a:xfrm rot="0">
            <a:off x="1028700" y="933450"/>
            <a:ext cx="4319213" cy="3364230"/>
          </a:xfrm>
          <a:prstGeom prst="rect">
            <a:avLst/>
          </a:prstGeom>
        </p:spPr>
        <p:txBody>
          <a:bodyPr anchor="t" rtlCol="false" tIns="0" lIns="0" bIns="0" rIns="0">
            <a:spAutoFit/>
          </a:bodyPr>
          <a:lstStyle/>
          <a:p>
            <a:pPr algn="l">
              <a:lnSpc>
                <a:spcPts val="6719"/>
              </a:lnSpc>
            </a:pPr>
            <a:r>
              <a:rPr lang="en-US" sz="4800">
                <a:solidFill>
                  <a:srgbClr val="344E41"/>
                </a:solidFill>
                <a:latin typeface="Prata"/>
                <a:ea typeface="Prata"/>
                <a:cs typeface="Prata"/>
                <a:sym typeface="Prata"/>
              </a:rPr>
              <a:t>WHAT DIGITAL LITERACY IS </a:t>
            </a:r>
          </a:p>
          <a:p>
            <a:pPr algn="l">
              <a:lnSpc>
                <a:spcPts val="6719"/>
              </a:lnSpc>
            </a:pPr>
          </a:p>
        </p:txBody>
      </p:sp>
      <p:sp>
        <p:nvSpPr>
          <p:cNvPr name="TextBox 6" id="6"/>
          <p:cNvSpPr txBox="true"/>
          <p:nvPr/>
        </p:nvSpPr>
        <p:spPr>
          <a:xfrm rot="0">
            <a:off x="6364290" y="2530751"/>
            <a:ext cx="10895010" cy="4312921"/>
          </a:xfrm>
          <a:prstGeom prst="rect">
            <a:avLst/>
          </a:prstGeom>
        </p:spPr>
        <p:txBody>
          <a:bodyPr anchor="t" rtlCol="false" tIns="0" lIns="0" bIns="0" rIns="0">
            <a:spAutoFit/>
          </a:bodyPr>
          <a:lstStyle/>
          <a:p>
            <a:pPr algn="just">
              <a:lnSpc>
                <a:spcPts val="4949"/>
              </a:lnSpc>
            </a:pPr>
            <a:r>
              <a:rPr lang="en-US" sz="3299">
                <a:solidFill>
                  <a:srgbClr val="344E41"/>
                </a:solidFill>
                <a:latin typeface="Raleway"/>
                <a:ea typeface="Raleway"/>
                <a:cs typeface="Raleway"/>
                <a:sym typeface="Raleway"/>
              </a:rPr>
              <a:t>Digital literacy is </a:t>
            </a:r>
            <a:r>
              <a:rPr lang="en-US" sz="3299">
                <a:solidFill>
                  <a:srgbClr val="344E41"/>
                </a:solidFill>
                <a:latin typeface="Raleway"/>
                <a:ea typeface="Raleway"/>
                <a:cs typeface="Raleway"/>
                <a:sym typeface="Raleway"/>
              </a:rPr>
              <a:t>the ability to confidently and critically find, evaluate, create, and communicate information using technology, such as computers, smartphones, and the internet</a:t>
            </a:r>
            <a:r>
              <a:rPr lang="en-US" sz="3299">
                <a:solidFill>
                  <a:srgbClr val="344E41"/>
                </a:solidFill>
                <a:latin typeface="Raleway"/>
                <a:ea typeface="Raleway"/>
                <a:cs typeface="Raleway"/>
                <a:sym typeface="Raleway"/>
              </a:rPr>
              <a:t>. It combines technical skills (using devices) with cognitive skills (evaluating content), ensuring safe and responsible participation in the digital world.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AD7CD"/>
        </a:solidFill>
      </p:bgPr>
    </p:bg>
    <p:spTree>
      <p:nvGrpSpPr>
        <p:cNvPr id="1" name=""/>
        <p:cNvGrpSpPr/>
        <p:nvPr/>
      </p:nvGrpSpPr>
      <p:grpSpPr>
        <a:xfrm>
          <a:off x="0" y="0"/>
          <a:ext cx="0" cy="0"/>
          <a:chOff x="0" y="0"/>
          <a:chExt cx="0" cy="0"/>
        </a:xfrm>
      </p:grpSpPr>
      <p:grpSp>
        <p:nvGrpSpPr>
          <p:cNvPr name="Group 2" id="2"/>
          <p:cNvGrpSpPr/>
          <p:nvPr/>
        </p:nvGrpSpPr>
        <p:grpSpPr>
          <a:xfrm rot="0">
            <a:off x="3145" y="0"/>
            <a:ext cx="18288000" cy="1028700"/>
            <a:chOff x="0" y="0"/>
            <a:chExt cx="12372622" cy="695960"/>
          </a:xfrm>
        </p:grpSpPr>
        <p:sp>
          <p:nvSpPr>
            <p:cNvPr name="Freeform 3" id="3"/>
            <p:cNvSpPr/>
            <p:nvPr/>
          </p:nvSpPr>
          <p:spPr>
            <a:xfrm flipH="false" flipV="false" rot="0">
              <a:off x="0" y="0"/>
              <a:ext cx="12372622" cy="695960"/>
            </a:xfrm>
            <a:custGeom>
              <a:avLst/>
              <a:gdLst/>
              <a:ahLst/>
              <a:cxnLst/>
              <a:rect r="r" b="b" t="t" l="l"/>
              <a:pathLst>
                <a:path h="695960" w="12372622">
                  <a:moveTo>
                    <a:pt x="0" y="0"/>
                  </a:moveTo>
                  <a:lnTo>
                    <a:pt x="12372622" y="0"/>
                  </a:lnTo>
                  <a:lnTo>
                    <a:pt x="12372622" y="695960"/>
                  </a:lnTo>
                  <a:lnTo>
                    <a:pt x="0" y="695960"/>
                  </a:lnTo>
                  <a:close/>
                </a:path>
              </a:pathLst>
            </a:custGeom>
            <a:solidFill>
              <a:srgbClr val="A3B18A"/>
            </a:solidFill>
          </p:spPr>
        </p:sp>
      </p:grpSp>
      <p:sp>
        <p:nvSpPr>
          <p:cNvPr name="Freeform 4" id="4"/>
          <p:cNvSpPr/>
          <p:nvPr/>
        </p:nvSpPr>
        <p:spPr>
          <a:xfrm flipH="false" flipV="false" rot="0">
            <a:off x="1178640" y="2664698"/>
            <a:ext cx="3115747" cy="3115747"/>
          </a:xfrm>
          <a:custGeom>
            <a:avLst/>
            <a:gdLst/>
            <a:ahLst/>
            <a:cxnLst/>
            <a:rect r="r" b="b" t="t" l="l"/>
            <a:pathLst>
              <a:path h="3115747" w="3115747">
                <a:moveTo>
                  <a:pt x="0" y="0"/>
                </a:moveTo>
                <a:lnTo>
                  <a:pt x="3115747" y="0"/>
                </a:lnTo>
                <a:lnTo>
                  <a:pt x="3115747" y="3115748"/>
                </a:lnTo>
                <a:lnTo>
                  <a:pt x="0" y="31157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905380" y="3271138"/>
            <a:ext cx="4144826" cy="1429567"/>
          </a:xfrm>
          <a:custGeom>
            <a:avLst/>
            <a:gdLst/>
            <a:ahLst/>
            <a:cxnLst/>
            <a:rect r="r" b="b" t="t" l="l"/>
            <a:pathLst>
              <a:path h="1429567" w="4144826">
                <a:moveTo>
                  <a:pt x="0" y="0"/>
                </a:moveTo>
                <a:lnTo>
                  <a:pt x="4144826" y="0"/>
                </a:lnTo>
                <a:lnTo>
                  <a:pt x="4144826" y="1429567"/>
                </a:lnTo>
                <a:lnTo>
                  <a:pt x="0" y="1429567"/>
                </a:lnTo>
                <a:lnTo>
                  <a:pt x="0" y="0"/>
                </a:lnTo>
                <a:close/>
              </a:path>
            </a:pathLst>
          </a:custGeom>
          <a:blipFill>
            <a:blip r:embed="rId4"/>
            <a:stretch>
              <a:fillRect l="0" t="0" r="0" b="0"/>
            </a:stretch>
          </a:blipFill>
        </p:spPr>
      </p:sp>
      <p:sp>
        <p:nvSpPr>
          <p:cNvPr name="Freeform 6" id="6"/>
          <p:cNvSpPr/>
          <p:nvPr/>
        </p:nvSpPr>
        <p:spPr>
          <a:xfrm flipH="false" flipV="false" rot="0">
            <a:off x="12577690" y="2718281"/>
            <a:ext cx="5070562" cy="2535281"/>
          </a:xfrm>
          <a:custGeom>
            <a:avLst/>
            <a:gdLst/>
            <a:ahLst/>
            <a:cxnLst/>
            <a:rect r="r" b="b" t="t" l="l"/>
            <a:pathLst>
              <a:path h="2535281" w="5070562">
                <a:moveTo>
                  <a:pt x="0" y="0"/>
                </a:moveTo>
                <a:lnTo>
                  <a:pt x="5070562" y="0"/>
                </a:lnTo>
                <a:lnTo>
                  <a:pt x="5070562" y="2535281"/>
                </a:lnTo>
                <a:lnTo>
                  <a:pt x="0" y="2535281"/>
                </a:lnTo>
                <a:lnTo>
                  <a:pt x="0" y="0"/>
                </a:lnTo>
                <a:close/>
              </a:path>
            </a:pathLst>
          </a:custGeom>
          <a:blipFill>
            <a:blip r:embed="rId5"/>
            <a:stretch>
              <a:fillRect l="0" t="0" r="0" b="0"/>
            </a:stretch>
          </a:blipFill>
        </p:spPr>
      </p:sp>
      <p:sp>
        <p:nvSpPr>
          <p:cNvPr name="TextBox 7" id="7"/>
          <p:cNvSpPr txBox="true"/>
          <p:nvPr/>
        </p:nvSpPr>
        <p:spPr>
          <a:xfrm rot="0">
            <a:off x="862493" y="1352868"/>
            <a:ext cx="3953953" cy="415290"/>
          </a:xfrm>
          <a:prstGeom prst="rect">
            <a:avLst/>
          </a:prstGeom>
        </p:spPr>
        <p:txBody>
          <a:bodyPr anchor="t" rtlCol="false" tIns="0" lIns="0" bIns="0" rIns="0">
            <a:spAutoFit/>
          </a:bodyPr>
          <a:lstStyle/>
          <a:p>
            <a:pPr algn="ctr">
              <a:lnSpc>
                <a:spcPts val="3359"/>
              </a:lnSpc>
            </a:pPr>
            <a:r>
              <a:rPr lang="en-US" b="true" sz="2400">
                <a:solidFill>
                  <a:srgbClr val="344E41"/>
                </a:solidFill>
                <a:latin typeface="Raleway Bold"/>
                <a:ea typeface="Raleway Bold"/>
                <a:cs typeface="Raleway Bold"/>
                <a:sym typeface="Raleway Bold"/>
              </a:rPr>
              <a:t>Notion</a:t>
            </a:r>
          </a:p>
        </p:txBody>
      </p:sp>
      <p:sp>
        <p:nvSpPr>
          <p:cNvPr name="TextBox 8" id="8"/>
          <p:cNvSpPr txBox="true"/>
          <p:nvPr/>
        </p:nvSpPr>
        <p:spPr>
          <a:xfrm rot="0">
            <a:off x="862493" y="1678925"/>
            <a:ext cx="3953953" cy="485775"/>
          </a:xfrm>
          <a:prstGeom prst="rect">
            <a:avLst/>
          </a:prstGeom>
        </p:spPr>
        <p:txBody>
          <a:bodyPr anchor="t" rtlCol="false" tIns="0" lIns="0" bIns="0" rIns="0">
            <a:spAutoFit/>
          </a:bodyPr>
          <a:lstStyle/>
          <a:p>
            <a:pPr algn="ctr">
              <a:lnSpc>
                <a:spcPts val="4079"/>
              </a:lnSpc>
            </a:pPr>
            <a:r>
              <a:rPr lang="en-US" sz="2400">
                <a:solidFill>
                  <a:srgbClr val="344E41"/>
                </a:solidFill>
                <a:latin typeface="Raleway"/>
                <a:ea typeface="Raleway"/>
                <a:cs typeface="Raleway"/>
                <a:sym typeface="Raleway"/>
              </a:rPr>
              <a:t>Organising &amp; Productivity</a:t>
            </a:r>
          </a:p>
        </p:txBody>
      </p:sp>
      <p:sp>
        <p:nvSpPr>
          <p:cNvPr name="TextBox 9" id="9"/>
          <p:cNvSpPr txBox="true"/>
          <p:nvPr/>
        </p:nvSpPr>
        <p:spPr>
          <a:xfrm rot="0">
            <a:off x="7000816" y="1352868"/>
            <a:ext cx="3953953" cy="415290"/>
          </a:xfrm>
          <a:prstGeom prst="rect">
            <a:avLst/>
          </a:prstGeom>
        </p:spPr>
        <p:txBody>
          <a:bodyPr anchor="t" rtlCol="false" tIns="0" lIns="0" bIns="0" rIns="0">
            <a:spAutoFit/>
          </a:bodyPr>
          <a:lstStyle/>
          <a:p>
            <a:pPr algn="ctr">
              <a:lnSpc>
                <a:spcPts val="3359"/>
              </a:lnSpc>
            </a:pPr>
            <a:r>
              <a:rPr lang="en-US" b="true" sz="2400">
                <a:solidFill>
                  <a:srgbClr val="344E41"/>
                </a:solidFill>
                <a:latin typeface="Raleway Bold"/>
                <a:ea typeface="Raleway Bold"/>
                <a:cs typeface="Raleway Bold"/>
                <a:sym typeface="Raleway Bold"/>
              </a:rPr>
              <a:t>Kahoot</a:t>
            </a:r>
          </a:p>
        </p:txBody>
      </p:sp>
      <p:sp>
        <p:nvSpPr>
          <p:cNvPr name="TextBox 10" id="10"/>
          <p:cNvSpPr txBox="true"/>
          <p:nvPr/>
        </p:nvSpPr>
        <p:spPr>
          <a:xfrm rot="0">
            <a:off x="7000816" y="1678925"/>
            <a:ext cx="3953953" cy="485775"/>
          </a:xfrm>
          <a:prstGeom prst="rect">
            <a:avLst/>
          </a:prstGeom>
        </p:spPr>
        <p:txBody>
          <a:bodyPr anchor="t" rtlCol="false" tIns="0" lIns="0" bIns="0" rIns="0">
            <a:spAutoFit/>
          </a:bodyPr>
          <a:lstStyle/>
          <a:p>
            <a:pPr algn="ctr">
              <a:lnSpc>
                <a:spcPts val="4079"/>
              </a:lnSpc>
            </a:pPr>
            <a:r>
              <a:rPr lang="en-US" sz="2400">
                <a:solidFill>
                  <a:srgbClr val="344E41"/>
                </a:solidFill>
                <a:latin typeface="Raleway"/>
                <a:ea typeface="Raleway"/>
                <a:cs typeface="Raleway"/>
                <a:sym typeface="Raleway"/>
              </a:rPr>
              <a:t>Learning &amp; Quizzes </a:t>
            </a:r>
          </a:p>
        </p:txBody>
      </p:sp>
      <p:sp>
        <p:nvSpPr>
          <p:cNvPr name="TextBox 11" id="11"/>
          <p:cNvSpPr txBox="true"/>
          <p:nvPr/>
        </p:nvSpPr>
        <p:spPr>
          <a:xfrm rot="0">
            <a:off x="13135994" y="1352868"/>
            <a:ext cx="3953953" cy="415290"/>
          </a:xfrm>
          <a:prstGeom prst="rect">
            <a:avLst/>
          </a:prstGeom>
        </p:spPr>
        <p:txBody>
          <a:bodyPr anchor="t" rtlCol="false" tIns="0" lIns="0" bIns="0" rIns="0">
            <a:spAutoFit/>
          </a:bodyPr>
          <a:lstStyle/>
          <a:p>
            <a:pPr algn="ctr">
              <a:lnSpc>
                <a:spcPts val="3359"/>
              </a:lnSpc>
            </a:pPr>
            <a:r>
              <a:rPr lang="en-US" b="true" sz="2400">
                <a:solidFill>
                  <a:srgbClr val="344E41"/>
                </a:solidFill>
                <a:latin typeface="Raleway Bold"/>
                <a:ea typeface="Raleway Bold"/>
                <a:cs typeface="Raleway Bold"/>
                <a:sym typeface="Raleway Bold"/>
              </a:rPr>
              <a:t>Google Classroom</a:t>
            </a:r>
          </a:p>
        </p:txBody>
      </p:sp>
      <p:sp>
        <p:nvSpPr>
          <p:cNvPr name="TextBox 12" id="12"/>
          <p:cNvSpPr txBox="true"/>
          <p:nvPr/>
        </p:nvSpPr>
        <p:spPr>
          <a:xfrm rot="0">
            <a:off x="13135994" y="1793225"/>
            <a:ext cx="3953953" cy="723519"/>
          </a:xfrm>
          <a:prstGeom prst="rect">
            <a:avLst/>
          </a:prstGeom>
        </p:spPr>
        <p:txBody>
          <a:bodyPr anchor="t" rtlCol="false" tIns="0" lIns="0" bIns="0" rIns="0">
            <a:spAutoFit/>
          </a:bodyPr>
          <a:lstStyle/>
          <a:p>
            <a:pPr algn="ctr">
              <a:lnSpc>
                <a:spcPts val="2808"/>
              </a:lnSpc>
            </a:pPr>
            <a:r>
              <a:rPr lang="en-US" sz="2400">
                <a:solidFill>
                  <a:srgbClr val="344E41"/>
                </a:solidFill>
                <a:latin typeface="Raleway"/>
                <a:ea typeface="Raleway"/>
                <a:cs typeface="Raleway"/>
                <a:sym typeface="Raleway"/>
              </a:rPr>
              <a:t>Student-Teacher Comunication</a:t>
            </a:r>
          </a:p>
        </p:txBody>
      </p:sp>
      <p:sp>
        <p:nvSpPr>
          <p:cNvPr name="TextBox 13" id="13"/>
          <p:cNvSpPr txBox="true"/>
          <p:nvPr/>
        </p:nvSpPr>
        <p:spPr>
          <a:xfrm rot="0">
            <a:off x="2429309" y="138377"/>
            <a:ext cx="13735943" cy="692325"/>
          </a:xfrm>
          <a:prstGeom prst="rect">
            <a:avLst/>
          </a:prstGeom>
        </p:spPr>
        <p:txBody>
          <a:bodyPr anchor="t" rtlCol="false" tIns="0" lIns="0" bIns="0" rIns="0">
            <a:spAutoFit/>
          </a:bodyPr>
          <a:lstStyle/>
          <a:p>
            <a:pPr algn="ctr">
              <a:lnSpc>
                <a:spcPts val="5612"/>
              </a:lnSpc>
            </a:pPr>
            <a:r>
              <a:rPr lang="en-US" sz="4220" spc="502">
                <a:solidFill>
                  <a:srgbClr val="FFFFFF"/>
                </a:solidFill>
                <a:latin typeface="Prata"/>
                <a:ea typeface="Prata"/>
                <a:cs typeface="Prata"/>
                <a:sym typeface="Prata"/>
              </a:rPr>
              <a:t>USEFUL DIGITAL TOOLS FOR STUDENTS</a:t>
            </a:r>
          </a:p>
        </p:txBody>
      </p:sp>
      <p:sp>
        <p:nvSpPr>
          <p:cNvPr name="TextBox 14" id="14"/>
          <p:cNvSpPr txBox="true"/>
          <p:nvPr/>
        </p:nvSpPr>
        <p:spPr>
          <a:xfrm rot="0">
            <a:off x="862493" y="5777437"/>
            <a:ext cx="4117202" cy="3257014"/>
          </a:xfrm>
          <a:prstGeom prst="rect">
            <a:avLst/>
          </a:prstGeom>
        </p:spPr>
        <p:txBody>
          <a:bodyPr anchor="t" rtlCol="false" tIns="0" lIns="0" bIns="0" rIns="0">
            <a:spAutoFit/>
          </a:bodyPr>
          <a:lstStyle/>
          <a:p>
            <a:pPr algn="ctr">
              <a:lnSpc>
                <a:spcPts val="3704"/>
              </a:lnSpc>
              <a:spcBef>
                <a:spcPct val="0"/>
              </a:spcBef>
            </a:pPr>
            <a:r>
              <a:rPr lang="en-US" sz="2646" u="sng">
                <a:solidFill>
                  <a:srgbClr val="000000"/>
                </a:solidFill>
                <a:latin typeface="Glacial Indifference"/>
                <a:ea typeface="Glacial Indifference"/>
                <a:cs typeface="Glacial Indifference"/>
                <a:sym typeface="Glacial Indifference"/>
                <a:hlinkClick r:id="rId6" tooltip="https://www.notion.com"/>
              </a:rPr>
              <a:t>Notion</a:t>
            </a:r>
            <a:r>
              <a:rPr lang="en-US" sz="2646">
                <a:solidFill>
                  <a:srgbClr val="000000"/>
                </a:solidFill>
                <a:latin typeface="Glacial Indifference"/>
                <a:ea typeface="Glacial Indifference"/>
                <a:cs typeface="Glacial Indifference"/>
                <a:sym typeface="Glacial Indifference"/>
              </a:rPr>
              <a:t> is a c</a:t>
            </a:r>
            <a:r>
              <a:rPr lang="en-US" sz="2646">
                <a:solidFill>
                  <a:srgbClr val="000000"/>
                </a:solidFill>
                <a:latin typeface="Glacial Indifference"/>
                <a:ea typeface="Glacial Indifference"/>
                <a:cs typeface="Glacial Indifference"/>
                <a:sym typeface="Glacial Indifference"/>
              </a:rPr>
              <a:t>omprehensive, customizable digital workspace and productivity application designed for note-taking, project management, and knowledge organization</a:t>
            </a:r>
          </a:p>
        </p:txBody>
      </p:sp>
      <p:sp>
        <p:nvSpPr>
          <p:cNvPr name="TextBox 15" id="15"/>
          <p:cNvSpPr txBox="true"/>
          <p:nvPr/>
        </p:nvSpPr>
        <p:spPr>
          <a:xfrm rot="0">
            <a:off x="6197999" y="5777437"/>
            <a:ext cx="5559587" cy="2323980"/>
          </a:xfrm>
          <a:prstGeom prst="rect">
            <a:avLst/>
          </a:prstGeom>
        </p:spPr>
        <p:txBody>
          <a:bodyPr anchor="t" rtlCol="false" tIns="0" lIns="0" bIns="0" rIns="0">
            <a:spAutoFit/>
          </a:bodyPr>
          <a:lstStyle/>
          <a:p>
            <a:pPr algn="ctr">
              <a:lnSpc>
                <a:spcPts val="3681"/>
              </a:lnSpc>
              <a:spcBef>
                <a:spcPct val="0"/>
              </a:spcBef>
            </a:pPr>
            <a:r>
              <a:rPr lang="en-US" sz="2629">
                <a:solidFill>
                  <a:srgbClr val="000000"/>
                </a:solidFill>
                <a:latin typeface="Glacial Indifference"/>
                <a:ea typeface="Glacial Indifference"/>
                <a:cs typeface="Glacial Indifference"/>
                <a:sym typeface="Glacial Indifference"/>
              </a:rPr>
              <a:t>Kaho</a:t>
            </a:r>
            <a:r>
              <a:rPr lang="en-US" sz="2629">
                <a:solidFill>
                  <a:srgbClr val="000000"/>
                </a:solidFill>
                <a:latin typeface="Glacial Indifference"/>
                <a:ea typeface="Glacial Indifference"/>
                <a:cs typeface="Glacial Indifference"/>
                <a:sym typeface="Glacial Indifference"/>
              </a:rPr>
              <a:t>ot! is a digital game-based student response system that allows teachers and learners to interact through competitive knowledge games using existing infrastructure.</a:t>
            </a:r>
          </a:p>
        </p:txBody>
      </p:sp>
      <p:sp>
        <p:nvSpPr>
          <p:cNvPr name="TextBox 16" id="16"/>
          <p:cNvSpPr txBox="true"/>
          <p:nvPr/>
        </p:nvSpPr>
        <p:spPr>
          <a:xfrm rot="0">
            <a:off x="12457364" y="5777437"/>
            <a:ext cx="5311214" cy="4190873"/>
          </a:xfrm>
          <a:prstGeom prst="rect">
            <a:avLst/>
          </a:prstGeom>
        </p:spPr>
        <p:txBody>
          <a:bodyPr anchor="t" rtlCol="false" tIns="0" lIns="0" bIns="0" rIns="0">
            <a:spAutoFit/>
          </a:bodyPr>
          <a:lstStyle/>
          <a:p>
            <a:pPr algn="ctr">
              <a:lnSpc>
                <a:spcPts val="3682"/>
              </a:lnSpc>
              <a:spcBef>
                <a:spcPct val="0"/>
              </a:spcBef>
            </a:pPr>
            <a:r>
              <a:rPr lang="en-US" sz="2630">
                <a:solidFill>
                  <a:srgbClr val="000000"/>
                </a:solidFill>
                <a:latin typeface="Glacial Indifference"/>
                <a:ea typeface="Glacial Indifference"/>
                <a:cs typeface="Glacial Indifference"/>
                <a:sym typeface="Glacial Indifference"/>
              </a:rPr>
              <a:t>Go</a:t>
            </a:r>
            <a:r>
              <a:rPr lang="en-US" sz="2630">
                <a:solidFill>
                  <a:srgbClr val="000000"/>
                </a:solidFill>
                <a:latin typeface="Glacial Indifference"/>
                <a:ea typeface="Glacial Indifference"/>
                <a:cs typeface="Glacial Indifference"/>
                <a:sym typeface="Glacial Indifference"/>
              </a:rPr>
              <a:t>ogle Classroom is  web-based learning management system (LMS) that streamlines creating, distributing, and grading assignments. It acts as a digital hub for teachers to organize materials, foster communication, and manage classes online, integrating seamlessly with </a:t>
            </a:r>
            <a:r>
              <a:rPr lang="en-US" sz="2630" u="sng">
                <a:solidFill>
                  <a:srgbClr val="000000"/>
                </a:solidFill>
                <a:latin typeface="Glacial Indifference"/>
                <a:ea typeface="Glacial Indifference"/>
                <a:cs typeface="Glacial Indifference"/>
                <a:sym typeface="Glacial Indifference"/>
                <a:hlinkClick r:id="rId7" tooltip="https://www.google.com/search?q=Google+Drive&amp;sca_esv=3e2b86a70d6d9be2&amp;rlz=1C5CHFA_enIN1098IN1098&amp;biw=1200&amp;bih=860&amp;sxsrf=ANbL-n77U2RAS4hobtWSSUZBGySoeEUvYA%3A1774935882625&amp;ei=Sl_LabDrJZyv0-kPyvr-8Aw&amp;oq=what+is+google+cl&amp;gs_lp=Egxnd3Mtd2l6LXNlcnAiEXdoYXQgaXMgZ29vZ2xlIGNsKgIIADIKEAAYgAQYFBiHAjIFEAAYgAQyChAAGIAEGBQYhwIyBRAAGIAEMgUQABiABDIFEAAYgAQyBRAAGIAEMgUQABiABDIFEAAYgAQyBRAAGIAESNxOUPUFWIJCcAF4AZABAJgBngKgAbgSqgEGMC4xMy4yuAEDyAEA-AEBmAIOoALBEMICChAAGEcY1gQYsAPCAg0QABiABBiKBRhDGLADwgIOEAAY5AIY1gQYsAPYAQHCAhMQLhiABBiKBRhDGMgDGLAD2AEBwgIZEC4YgAQYigUYQxjHARjRAxjIAxiwA9gBAcICBBAjGCfCAgoQABiABBiKBRhDwgIIEAAYgAQYsQPCAgUQLhiABMICDhAAGIAEGIoFGLEDGIMBwgILEAAYgAQYigUYkQLCAg4QABiABBiKBRiRAhixA8ICCxAAGIAEGLEDGIMBwgIMEAAYgAQYChgLGLEDwgIJEAAYgAQYChgLwgIKEAAYgAQYDRixA8ICBxAAGIAEGA2YAwCIBgGQBhO6BgYIARABGAmSBwYxLjEyLjGgB_lYsgcGMC4xMi4xuAe1EMIHBjItMTEuM8gHXYAIAQ&amp;sclient=gws-wiz-serp&amp;ved=2ahUKEwjN4bvct8mTAxViklYBHXSkDM8QgK4QegYIAQgAEAQ"/>
              </a:rPr>
              <a:t>Google Drive</a:t>
            </a:r>
            <a:r>
              <a:rPr lang="en-US" sz="2630">
                <a:solidFill>
                  <a:srgbClr val="000000"/>
                </a:solidFill>
                <a:latin typeface="Glacial Indifference"/>
                <a:ea typeface="Glacial Indifference"/>
                <a:cs typeface="Glacial Indifference"/>
                <a:sym typeface="Glacial Indifference"/>
              </a:rPr>
              <a:t>, Docs, and </a:t>
            </a:r>
            <a:r>
              <a:rPr lang="en-US" sz="2630" u="sng">
                <a:solidFill>
                  <a:srgbClr val="000000"/>
                </a:solidFill>
                <a:latin typeface="Glacial Indifference"/>
                <a:ea typeface="Glacial Indifference"/>
                <a:cs typeface="Glacial Indifference"/>
                <a:sym typeface="Glacial Indifference"/>
                <a:hlinkClick r:id="rId8" tooltip="https://www.google.com/search?q=Meet&amp;sca_esv=3e2b86a70d6d9be2&amp;rlz=1C5CHFA_enIN1098IN1098&amp;biw=1200&amp;bih=860&amp;sxsrf=ANbL-n77U2RAS4hobtWSSUZBGySoeEUvYA%3A1774935882625&amp;ei=Sl_LabDrJZyv0-kPyvr-8Aw&amp;oq=what+is+google+cl&amp;gs_lp=Egxnd3Mtd2l6LXNlcnAiEXdoYXQgaXMgZ29vZ2xlIGNsKgIIADIKEAAYgAQYFBiHAjIFEAAYgAQyChAAGIAEGBQYhwIyBRAAGIAEMgUQABiABDIFEAAYgAQyBRAAGIAEMgUQABiABDIFEAAYgAQyBRAAGIAESNxOUPUFWIJCcAF4AZABAJgBngKgAbgSqgEGMC4xMy4yuAEDyAEA-AEBmAIOoALBEMICChAAGEcY1gQYsAPCAg0QABiABBiKBRhDGLADwgIOEAAY5AIY1gQYsAPYAQHCAhMQLhiABBiKBRhDGMgDGLAD2AEBwgIZEC4YgAQYigUYQxjHARjRAxjIAxiwA9gBAcICBBAjGCfCAgoQABiABBiKBRhDwgIIEAAYgAQYsQPCAgUQLhiABMICDhAAGIAEGIoFGLEDGIMBwgILEAAYgAQYigUYkQLCAg4QABiABBiKBRiRAhixA8ICCxAAGIAEGLEDGIMBwgIMEAAYgAQYChgLGLEDwgIJEAAYgAQYChgLwgIKEAAYgAQYDRixA8ICBxAAGIAEGA2YAwCIBgGQBhO6BgYIARABGAmSBwYxLjEyLjGgB_lYsgcGMC4xMi4xuAe1EMIHBjItMTEuM8gHXYAIAQ&amp;sclient=gws-wiz-serp&amp;ved=2ahUKEwjN4bvct8mTAxViklYBHXSkDM8QgK4QegYIAQgAEAU"/>
              </a:rPr>
              <a:t>Meet</a:t>
            </a:r>
            <a:r>
              <a:rPr lang="en-US" sz="2630">
                <a:solidFill>
                  <a:srgbClr val="000000"/>
                </a:solidFill>
                <a:latin typeface="Glacial Indifference"/>
                <a:ea typeface="Glacial Indifference"/>
                <a:cs typeface="Glacial Indifference"/>
                <a:sym typeface="Glacial Indifference"/>
              </a:rPr>
              <a: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DAD7CD"/>
        </a:solidFill>
      </p:bgPr>
    </p:bg>
    <p:spTree>
      <p:nvGrpSpPr>
        <p:cNvPr id="1" name=""/>
        <p:cNvGrpSpPr/>
        <p:nvPr/>
      </p:nvGrpSpPr>
      <p:grpSpPr>
        <a:xfrm>
          <a:off x="0" y="0"/>
          <a:ext cx="0" cy="0"/>
          <a:chOff x="0" y="0"/>
          <a:chExt cx="0" cy="0"/>
        </a:xfrm>
      </p:grpSpPr>
      <p:sp>
        <p:nvSpPr>
          <p:cNvPr name="TextBox 2" id="2"/>
          <p:cNvSpPr txBox="true"/>
          <p:nvPr/>
        </p:nvSpPr>
        <p:spPr>
          <a:xfrm rot="0">
            <a:off x="754151" y="704659"/>
            <a:ext cx="4627892" cy="2516505"/>
          </a:xfrm>
          <a:prstGeom prst="rect">
            <a:avLst/>
          </a:prstGeom>
        </p:spPr>
        <p:txBody>
          <a:bodyPr anchor="t" rtlCol="false" tIns="0" lIns="0" bIns="0" rIns="0">
            <a:spAutoFit/>
          </a:bodyPr>
          <a:lstStyle/>
          <a:p>
            <a:pPr algn="l">
              <a:lnSpc>
                <a:spcPts val="6719"/>
              </a:lnSpc>
            </a:pPr>
            <a:r>
              <a:rPr lang="en-US" sz="4800">
                <a:solidFill>
                  <a:srgbClr val="344E41"/>
                </a:solidFill>
                <a:latin typeface="Prata"/>
                <a:ea typeface="Prata"/>
                <a:cs typeface="Prata"/>
                <a:sym typeface="Prata"/>
              </a:rPr>
              <a:t>SAFE INTERNET PRACTICES</a:t>
            </a:r>
          </a:p>
        </p:txBody>
      </p:sp>
      <p:grpSp>
        <p:nvGrpSpPr>
          <p:cNvPr name="Group 3" id="3"/>
          <p:cNvGrpSpPr/>
          <p:nvPr/>
        </p:nvGrpSpPr>
        <p:grpSpPr>
          <a:xfrm rot="0">
            <a:off x="0" y="9258300"/>
            <a:ext cx="18288000" cy="1028700"/>
            <a:chOff x="0" y="0"/>
            <a:chExt cx="12372622" cy="695960"/>
          </a:xfrm>
        </p:grpSpPr>
        <p:sp>
          <p:nvSpPr>
            <p:cNvPr name="Freeform 4" id="4"/>
            <p:cNvSpPr/>
            <p:nvPr/>
          </p:nvSpPr>
          <p:spPr>
            <a:xfrm flipH="false" flipV="false" rot="0">
              <a:off x="0" y="0"/>
              <a:ext cx="12372622" cy="695960"/>
            </a:xfrm>
            <a:custGeom>
              <a:avLst/>
              <a:gdLst/>
              <a:ahLst/>
              <a:cxnLst/>
              <a:rect r="r" b="b" t="t" l="l"/>
              <a:pathLst>
                <a:path h="695960" w="12372622">
                  <a:moveTo>
                    <a:pt x="0" y="0"/>
                  </a:moveTo>
                  <a:lnTo>
                    <a:pt x="12372622" y="0"/>
                  </a:lnTo>
                  <a:lnTo>
                    <a:pt x="12372622" y="695960"/>
                  </a:lnTo>
                  <a:lnTo>
                    <a:pt x="0" y="695960"/>
                  </a:lnTo>
                  <a:close/>
                </a:path>
              </a:pathLst>
            </a:custGeom>
            <a:solidFill>
              <a:srgbClr val="A3B18A"/>
            </a:solidFill>
          </p:spPr>
        </p:sp>
      </p:grpSp>
      <p:sp>
        <p:nvSpPr>
          <p:cNvPr name="AutoShape 5" id="5"/>
          <p:cNvSpPr/>
          <p:nvPr/>
        </p:nvSpPr>
        <p:spPr>
          <a:xfrm>
            <a:off x="6519503" y="4434500"/>
            <a:ext cx="10739797" cy="0"/>
          </a:xfrm>
          <a:prstGeom prst="line">
            <a:avLst/>
          </a:prstGeom>
          <a:ln cap="flat" w="9525">
            <a:solidFill>
              <a:srgbClr val="804F3B"/>
            </a:solidFill>
            <a:prstDash val="solid"/>
            <a:headEnd type="none" len="sm" w="sm"/>
            <a:tailEnd type="none" len="sm" w="sm"/>
          </a:ln>
        </p:spPr>
      </p:sp>
      <p:sp>
        <p:nvSpPr>
          <p:cNvPr name="AutoShape 6" id="6"/>
          <p:cNvSpPr/>
          <p:nvPr/>
        </p:nvSpPr>
        <p:spPr>
          <a:xfrm>
            <a:off x="11889402" y="1028700"/>
            <a:ext cx="0" cy="6826195"/>
          </a:xfrm>
          <a:prstGeom prst="line">
            <a:avLst/>
          </a:prstGeom>
          <a:ln cap="flat" w="9525">
            <a:solidFill>
              <a:srgbClr val="804F3B"/>
            </a:solidFill>
            <a:prstDash val="solid"/>
            <a:headEnd type="none" len="sm" w="sm"/>
            <a:tailEnd type="none" len="sm" w="sm"/>
          </a:ln>
        </p:spPr>
      </p:sp>
      <p:sp>
        <p:nvSpPr>
          <p:cNvPr name="TextBox 7" id="7"/>
          <p:cNvSpPr txBox="true"/>
          <p:nvPr/>
        </p:nvSpPr>
        <p:spPr>
          <a:xfrm rot="0">
            <a:off x="7007256" y="1061375"/>
            <a:ext cx="4343866" cy="834390"/>
          </a:xfrm>
          <a:prstGeom prst="rect">
            <a:avLst/>
          </a:prstGeom>
        </p:spPr>
        <p:txBody>
          <a:bodyPr anchor="t" rtlCol="false" tIns="0" lIns="0" bIns="0" rIns="0">
            <a:spAutoFit/>
          </a:bodyPr>
          <a:lstStyle/>
          <a:p>
            <a:pPr algn="l">
              <a:lnSpc>
                <a:spcPts val="3359"/>
              </a:lnSpc>
            </a:pPr>
            <a:r>
              <a:rPr lang="en-US" sz="2400" b="true">
                <a:solidFill>
                  <a:srgbClr val="344E41"/>
                </a:solidFill>
                <a:latin typeface="Raleway Bold"/>
                <a:ea typeface="Raleway Bold"/>
                <a:cs typeface="Raleway Bold"/>
                <a:sym typeface="Raleway Bold"/>
              </a:rPr>
              <a:t>Use Strong, Unique Passwords &amp; Managers</a:t>
            </a:r>
          </a:p>
        </p:txBody>
      </p:sp>
      <p:sp>
        <p:nvSpPr>
          <p:cNvPr name="TextBox 8" id="8"/>
          <p:cNvSpPr txBox="true"/>
          <p:nvPr/>
        </p:nvSpPr>
        <p:spPr>
          <a:xfrm rot="0">
            <a:off x="7007256" y="2050393"/>
            <a:ext cx="4343866" cy="2055495"/>
          </a:xfrm>
          <a:prstGeom prst="rect">
            <a:avLst/>
          </a:prstGeom>
        </p:spPr>
        <p:txBody>
          <a:bodyPr anchor="t" rtlCol="false" tIns="0" lIns="0" bIns="0" rIns="0">
            <a:spAutoFit/>
          </a:bodyPr>
          <a:lstStyle/>
          <a:p>
            <a:pPr algn="l">
              <a:lnSpc>
                <a:spcPts val="2700"/>
              </a:lnSpc>
            </a:pPr>
            <a:r>
              <a:rPr lang="en-US" sz="1800">
                <a:solidFill>
                  <a:srgbClr val="344E41"/>
                </a:solidFill>
                <a:latin typeface="Raleway"/>
                <a:ea typeface="Raleway"/>
                <a:cs typeface="Raleway"/>
                <a:sym typeface="Raleway"/>
              </a:rPr>
              <a:t>Create complex passwords (letters, numbers, symbols) for each account to prevent a single breach from compromising your digital life. Use a password manager to store them securely.</a:t>
            </a:r>
          </a:p>
        </p:txBody>
      </p:sp>
      <p:sp>
        <p:nvSpPr>
          <p:cNvPr name="TextBox 9" id="9"/>
          <p:cNvSpPr txBox="true"/>
          <p:nvPr/>
        </p:nvSpPr>
        <p:spPr>
          <a:xfrm rot="0">
            <a:off x="12467394" y="971550"/>
            <a:ext cx="4343866" cy="834390"/>
          </a:xfrm>
          <a:prstGeom prst="rect">
            <a:avLst/>
          </a:prstGeom>
        </p:spPr>
        <p:txBody>
          <a:bodyPr anchor="t" rtlCol="false" tIns="0" lIns="0" bIns="0" rIns="0">
            <a:spAutoFit/>
          </a:bodyPr>
          <a:lstStyle/>
          <a:p>
            <a:pPr algn="l">
              <a:lnSpc>
                <a:spcPts val="3359"/>
              </a:lnSpc>
            </a:pPr>
            <a:r>
              <a:rPr lang="en-US" sz="2400" b="true">
                <a:solidFill>
                  <a:srgbClr val="344E41"/>
                </a:solidFill>
                <a:latin typeface="Raleway Bold"/>
                <a:ea typeface="Raleway Bold"/>
                <a:cs typeface="Raleway Bold"/>
                <a:sym typeface="Raleway Bold"/>
              </a:rPr>
              <a:t>Enable Two-Factor Authentication (2FA)</a:t>
            </a:r>
          </a:p>
        </p:txBody>
      </p:sp>
      <p:sp>
        <p:nvSpPr>
          <p:cNvPr name="TextBox 10" id="10"/>
          <p:cNvSpPr txBox="true"/>
          <p:nvPr/>
        </p:nvSpPr>
        <p:spPr>
          <a:xfrm rot="0">
            <a:off x="12467394" y="1943862"/>
            <a:ext cx="4343866" cy="1712595"/>
          </a:xfrm>
          <a:prstGeom prst="rect">
            <a:avLst/>
          </a:prstGeom>
        </p:spPr>
        <p:txBody>
          <a:bodyPr anchor="t" rtlCol="false" tIns="0" lIns="0" bIns="0" rIns="0">
            <a:spAutoFit/>
          </a:bodyPr>
          <a:lstStyle/>
          <a:p>
            <a:pPr algn="l">
              <a:lnSpc>
                <a:spcPts val="2700"/>
              </a:lnSpc>
            </a:pPr>
            <a:r>
              <a:rPr lang="en-US" sz="1800">
                <a:solidFill>
                  <a:srgbClr val="344E41"/>
                </a:solidFill>
                <a:latin typeface="Raleway"/>
                <a:ea typeface="Raleway"/>
                <a:cs typeface="Raleway"/>
                <a:sym typeface="Raleway"/>
              </a:rPr>
              <a:t>Add an extra layer of security beyond just a password. Even if a hacker steals your password, they cannot access your account without the second factor (like a code sent to your phone).</a:t>
            </a:r>
          </a:p>
        </p:txBody>
      </p:sp>
      <p:sp>
        <p:nvSpPr>
          <p:cNvPr name="TextBox 11" id="11"/>
          <p:cNvSpPr txBox="true"/>
          <p:nvPr/>
        </p:nvSpPr>
        <p:spPr>
          <a:xfrm rot="0">
            <a:off x="7007256" y="4705963"/>
            <a:ext cx="4343866" cy="834390"/>
          </a:xfrm>
          <a:prstGeom prst="rect">
            <a:avLst/>
          </a:prstGeom>
        </p:spPr>
        <p:txBody>
          <a:bodyPr anchor="t" rtlCol="false" tIns="0" lIns="0" bIns="0" rIns="0">
            <a:spAutoFit/>
          </a:bodyPr>
          <a:lstStyle/>
          <a:p>
            <a:pPr algn="l">
              <a:lnSpc>
                <a:spcPts val="3359"/>
              </a:lnSpc>
            </a:pPr>
            <a:r>
              <a:rPr lang="en-US" sz="2400" b="true">
                <a:solidFill>
                  <a:srgbClr val="344E41"/>
                </a:solidFill>
                <a:latin typeface="Raleway Bold"/>
                <a:ea typeface="Raleway Bold"/>
                <a:cs typeface="Raleway Bold"/>
                <a:sym typeface="Raleway Bold"/>
              </a:rPr>
              <a:t>Identify Phishing and Suspicious Links</a:t>
            </a:r>
          </a:p>
        </p:txBody>
      </p:sp>
      <p:sp>
        <p:nvSpPr>
          <p:cNvPr name="TextBox 12" id="12"/>
          <p:cNvSpPr txBox="true"/>
          <p:nvPr/>
        </p:nvSpPr>
        <p:spPr>
          <a:xfrm rot="0">
            <a:off x="6969273" y="5797528"/>
            <a:ext cx="4343866" cy="1712595"/>
          </a:xfrm>
          <a:prstGeom prst="rect">
            <a:avLst/>
          </a:prstGeom>
        </p:spPr>
        <p:txBody>
          <a:bodyPr anchor="t" rtlCol="false" tIns="0" lIns="0" bIns="0" rIns="0">
            <a:spAutoFit/>
          </a:bodyPr>
          <a:lstStyle/>
          <a:p>
            <a:pPr algn="l">
              <a:lnSpc>
                <a:spcPts val="2700"/>
              </a:lnSpc>
            </a:pPr>
            <a:r>
              <a:rPr lang="en-US" sz="1800">
                <a:solidFill>
                  <a:srgbClr val="344E41"/>
                </a:solidFill>
                <a:latin typeface="Raleway"/>
                <a:ea typeface="Raleway"/>
                <a:cs typeface="Raleway"/>
                <a:sym typeface="Raleway"/>
              </a:rPr>
              <a:t>Do not click links or open attachments in unexpected emails or messages, even if they seem urgent. Verify the sender and look for inconsistencies in email addresses or website domains.</a:t>
            </a:r>
          </a:p>
        </p:txBody>
      </p:sp>
      <p:sp>
        <p:nvSpPr>
          <p:cNvPr name="TextBox 13" id="13"/>
          <p:cNvSpPr txBox="true"/>
          <p:nvPr/>
        </p:nvSpPr>
        <p:spPr>
          <a:xfrm rot="0">
            <a:off x="12467394" y="4697730"/>
            <a:ext cx="4343866" cy="834390"/>
          </a:xfrm>
          <a:prstGeom prst="rect">
            <a:avLst/>
          </a:prstGeom>
        </p:spPr>
        <p:txBody>
          <a:bodyPr anchor="t" rtlCol="false" tIns="0" lIns="0" bIns="0" rIns="0">
            <a:spAutoFit/>
          </a:bodyPr>
          <a:lstStyle/>
          <a:p>
            <a:pPr algn="l">
              <a:lnSpc>
                <a:spcPts val="3359"/>
              </a:lnSpc>
            </a:pPr>
            <a:r>
              <a:rPr lang="en-US" sz="2400" b="true">
                <a:solidFill>
                  <a:srgbClr val="344E41"/>
                </a:solidFill>
                <a:latin typeface="Raleway Bold"/>
                <a:ea typeface="Raleway Bold"/>
                <a:cs typeface="Raleway Bold"/>
                <a:sym typeface="Raleway Bold"/>
              </a:rPr>
              <a:t>Keep Software and Security Updated</a:t>
            </a:r>
          </a:p>
        </p:txBody>
      </p:sp>
      <p:sp>
        <p:nvSpPr>
          <p:cNvPr name="TextBox 14" id="14"/>
          <p:cNvSpPr txBox="true"/>
          <p:nvPr/>
        </p:nvSpPr>
        <p:spPr>
          <a:xfrm rot="0">
            <a:off x="12465664" y="5797528"/>
            <a:ext cx="4343866" cy="1369695"/>
          </a:xfrm>
          <a:prstGeom prst="rect">
            <a:avLst/>
          </a:prstGeom>
        </p:spPr>
        <p:txBody>
          <a:bodyPr anchor="t" rtlCol="false" tIns="0" lIns="0" bIns="0" rIns="0">
            <a:spAutoFit/>
          </a:bodyPr>
          <a:lstStyle/>
          <a:p>
            <a:pPr algn="l">
              <a:lnSpc>
                <a:spcPts val="2700"/>
              </a:lnSpc>
            </a:pPr>
            <a:r>
              <a:rPr lang="en-US" sz="1800">
                <a:solidFill>
                  <a:srgbClr val="344E41"/>
                </a:solidFill>
                <a:latin typeface="Raleway"/>
                <a:ea typeface="Raleway"/>
                <a:cs typeface="Raleway"/>
                <a:sym typeface="Raleway"/>
              </a:rPr>
              <a:t>Regularly update your operating system, browser, and apps to patch security vulnerabilities that hackers frequently exploit.</a:t>
            </a:r>
          </a:p>
        </p:txBody>
      </p:sp>
      <p:sp>
        <p:nvSpPr>
          <p:cNvPr name="AutoShape 15" id="15"/>
          <p:cNvSpPr/>
          <p:nvPr/>
        </p:nvSpPr>
        <p:spPr>
          <a:xfrm flipH="true">
            <a:off x="5981341" y="386256"/>
            <a:ext cx="0" cy="8626491"/>
          </a:xfrm>
          <a:prstGeom prst="line">
            <a:avLst/>
          </a:prstGeom>
          <a:ln cap="flat" w="9525">
            <a:solidFill>
              <a:srgbClr val="804F3B"/>
            </a:solidFill>
            <a:prstDash val="solid"/>
            <a:headEnd type="none" len="sm" w="sm"/>
            <a:tailEnd type="none" len="sm" w="sm"/>
          </a:ln>
        </p:spPr>
      </p:sp>
      <p:sp>
        <p:nvSpPr>
          <p:cNvPr name="TextBox 16" id="16"/>
          <p:cNvSpPr txBox="true"/>
          <p:nvPr/>
        </p:nvSpPr>
        <p:spPr>
          <a:xfrm rot="0">
            <a:off x="400355" y="3703084"/>
            <a:ext cx="4595148" cy="4274611"/>
          </a:xfrm>
          <a:prstGeom prst="rect">
            <a:avLst/>
          </a:prstGeom>
        </p:spPr>
        <p:txBody>
          <a:bodyPr anchor="t" rtlCol="false" tIns="0" lIns="0" bIns="0" rIns="0">
            <a:spAutoFit/>
          </a:bodyPr>
          <a:lstStyle/>
          <a:p>
            <a:pPr algn="ctr">
              <a:lnSpc>
                <a:spcPts val="2837"/>
              </a:lnSpc>
              <a:spcBef>
                <a:spcPct val="0"/>
              </a:spcBef>
            </a:pPr>
            <a:r>
              <a:rPr lang="en-US" sz="2026">
                <a:solidFill>
                  <a:srgbClr val="344E41"/>
                </a:solidFill>
                <a:latin typeface="Raleway"/>
                <a:ea typeface="Raleway"/>
                <a:cs typeface="Raleway"/>
                <a:sym typeface="Raleway"/>
              </a:rPr>
              <a:t>Internet safety practices (als</a:t>
            </a:r>
            <a:r>
              <a:rPr lang="en-US" sz="2026">
                <a:solidFill>
                  <a:srgbClr val="344E41"/>
                </a:solidFill>
                <a:latin typeface="Raleway"/>
                <a:ea typeface="Raleway"/>
                <a:cs typeface="Raleway"/>
                <a:sym typeface="Raleway"/>
              </a:rPr>
              <a:t>o known as online security measures, cyber hygiene, or digital safety) involve protecting personal information, devices, and accounts from cyber threats. Essential practices include using strong, unique passwords for every account, enabling two-factor authentication (2FA), keeping software updated, and being cautious of phishing links, public Wi-Fi, and sharing personal data.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DAD7CD"/>
        </a:solidFill>
      </p:bgPr>
    </p:bg>
    <p:spTree>
      <p:nvGrpSpPr>
        <p:cNvPr id="1" name=""/>
        <p:cNvGrpSpPr/>
        <p:nvPr/>
      </p:nvGrpSpPr>
      <p:grpSpPr>
        <a:xfrm>
          <a:off x="0" y="0"/>
          <a:ext cx="0" cy="0"/>
          <a:chOff x="0" y="0"/>
          <a:chExt cx="0" cy="0"/>
        </a:xfrm>
      </p:grpSpPr>
      <p:sp>
        <p:nvSpPr>
          <p:cNvPr name="TextBox 2" id="2"/>
          <p:cNvSpPr txBox="true"/>
          <p:nvPr/>
        </p:nvSpPr>
        <p:spPr>
          <a:xfrm rot="0">
            <a:off x="540613" y="4396224"/>
            <a:ext cx="16910690" cy="2021294"/>
          </a:xfrm>
          <a:prstGeom prst="rect">
            <a:avLst/>
          </a:prstGeom>
        </p:spPr>
        <p:txBody>
          <a:bodyPr anchor="t" rtlCol="false" tIns="0" lIns="0" bIns="0" rIns="0">
            <a:spAutoFit/>
          </a:bodyPr>
          <a:lstStyle/>
          <a:p>
            <a:pPr algn="ctr">
              <a:lnSpc>
                <a:spcPts val="15138"/>
              </a:lnSpc>
            </a:pPr>
            <a:r>
              <a:rPr lang="en-US" sz="15138">
                <a:solidFill>
                  <a:srgbClr val="344E41"/>
                </a:solidFill>
                <a:latin typeface="Prata"/>
                <a:ea typeface="Prata"/>
                <a:cs typeface="Prata"/>
                <a:sym typeface="Prata"/>
              </a:rPr>
              <a:t>THANK YOU </a:t>
            </a:r>
          </a:p>
        </p:txBody>
      </p:sp>
      <p:grpSp>
        <p:nvGrpSpPr>
          <p:cNvPr name="Group 3" id="3"/>
          <p:cNvGrpSpPr/>
          <p:nvPr/>
        </p:nvGrpSpPr>
        <p:grpSpPr>
          <a:xfrm rot="0">
            <a:off x="0" y="9258300"/>
            <a:ext cx="18288000" cy="1028700"/>
            <a:chOff x="0" y="0"/>
            <a:chExt cx="12372622" cy="695960"/>
          </a:xfrm>
        </p:grpSpPr>
        <p:sp>
          <p:nvSpPr>
            <p:cNvPr name="Freeform 4" id="4"/>
            <p:cNvSpPr/>
            <p:nvPr/>
          </p:nvSpPr>
          <p:spPr>
            <a:xfrm flipH="false" flipV="false" rot="0">
              <a:off x="0" y="0"/>
              <a:ext cx="12372622" cy="695960"/>
            </a:xfrm>
            <a:custGeom>
              <a:avLst/>
              <a:gdLst/>
              <a:ahLst/>
              <a:cxnLst/>
              <a:rect r="r" b="b" t="t" l="l"/>
              <a:pathLst>
                <a:path h="695960" w="12372622">
                  <a:moveTo>
                    <a:pt x="0" y="0"/>
                  </a:moveTo>
                  <a:lnTo>
                    <a:pt x="12372622" y="0"/>
                  </a:lnTo>
                  <a:lnTo>
                    <a:pt x="12372622" y="695960"/>
                  </a:lnTo>
                  <a:lnTo>
                    <a:pt x="0" y="695960"/>
                  </a:lnTo>
                  <a:close/>
                </a:path>
              </a:pathLst>
            </a:custGeom>
            <a:solidFill>
              <a:srgbClr val="A3B18A"/>
            </a:solidFill>
          </p:spPr>
        </p:sp>
      </p:grpSp>
      <p:sp>
        <p:nvSpPr>
          <p:cNvPr name="TextBox 5" id="5"/>
          <p:cNvSpPr txBox="true"/>
          <p:nvPr/>
        </p:nvSpPr>
        <p:spPr>
          <a:xfrm rot="0">
            <a:off x="540613" y="2821791"/>
            <a:ext cx="16910690" cy="1140995"/>
          </a:xfrm>
          <a:prstGeom prst="rect">
            <a:avLst/>
          </a:prstGeom>
        </p:spPr>
        <p:txBody>
          <a:bodyPr anchor="t" rtlCol="false" tIns="0" lIns="0" bIns="0" rIns="0">
            <a:spAutoFit/>
          </a:bodyPr>
          <a:lstStyle/>
          <a:p>
            <a:pPr algn="ctr">
              <a:lnSpc>
                <a:spcPts val="9295"/>
              </a:lnSpc>
            </a:pPr>
            <a:r>
              <a:rPr lang="en-US" sz="6639">
                <a:solidFill>
                  <a:srgbClr val="344E41"/>
                </a:solidFill>
                <a:latin typeface="Raleway"/>
                <a:ea typeface="Raleway"/>
                <a:cs typeface="Raleway"/>
                <a:sym typeface="Raleway"/>
              </a:rPr>
              <a:t>THE END</a:t>
            </a:r>
          </a:p>
        </p:txBody>
      </p:sp>
      <p:sp>
        <p:nvSpPr>
          <p:cNvPr name="TextBox 6" id="6"/>
          <p:cNvSpPr txBox="true"/>
          <p:nvPr/>
        </p:nvSpPr>
        <p:spPr>
          <a:xfrm rot="0">
            <a:off x="6187109" y="9510857"/>
            <a:ext cx="5913783" cy="415290"/>
          </a:xfrm>
          <a:prstGeom prst="rect">
            <a:avLst/>
          </a:prstGeom>
        </p:spPr>
        <p:txBody>
          <a:bodyPr anchor="t" rtlCol="false" tIns="0" lIns="0" bIns="0" rIns="0">
            <a:spAutoFit/>
          </a:bodyPr>
          <a:lstStyle/>
          <a:p>
            <a:pPr algn="ctr">
              <a:lnSpc>
                <a:spcPts val="3359"/>
              </a:lnSpc>
            </a:pPr>
            <a:r>
              <a:rPr lang="en-US" sz="2400">
                <a:solidFill>
                  <a:srgbClr val="344E41"/>
                </a:solidFill>
                <a:latin typeface="Raleway"/>
                <a:ea typeface="Raleway"/>
                <a:cs typeface="Raleway"/>
                <a:sym typeface="Raleway"/>
              </a:rPr>
              <a:t>ARTH RAJ SINGH </a:t>
            </a:r>
          </a:p>
        </p:txBody>
      </p:sp>
      <p:sp>
        <p:nvSpPr>
          <p:cNvPr name="TextBox 7" id="7"/>
          <p:cNvSpPr txBox="true"/>
          <p:nvPr/>
        </p:nvSpPr>
        <p:spPr>
          <a:xfrm rot="0">
            <a:off x="14091936" y="9510857"/>
            <a:ext cx="3167364" cy="415290"/>
          </a:xfrm>
          <a:prstGeom prst="rect">
            <a:avLst/>
          </a:prstGeom>
        </p:spPr>
        <p:txBody>
          <a:bodyPr anchor="t" rtlCol="false" tIns="0" lIns="0" bIns="0" rIns="0">
            <a:spAutoFit/>
          </a:bodyPr>
          <a:lstStyle/>
          <a:p>
            <a:pPr algn="r">
              <a:lnSpc>
                <a:spcPts val="3359"/>
              </a:lnSpc>
            </a:pPr>
            <a:r>
              <a:rPr lang="en-US" sz="2400">
                <a:solidFill>
                  <a:srgbClr val="344E41"/>
                </a:solidFill>
                <a:latin typeface="Raleway"/>
                <a:ea typeface="Raleway"/>
                <a:cs typeface="Raleway"/>
                <a:sym typeface="Raleway"/>
              </a:rPr>
              <a:t>25MIP10048</a:t>
            </a:r>
          </a:p>
        </p:txBody>
      </p:sp>
      <p:sp>
        <p:nvSpPr>
          <p:cNvPr name="TextBox 8" id="8"/>
          <p:cNvSpPr txBox="true"/>
          <p:nvPr/>
        </p:nvSpPr>
        <p:spPr>
          <a:xfrm rot="0">
            <a:off x="1028700" y="9510857"/>
            <a:ext cx="2956891" cy="415290"/>
          </a:xfrm>
          <a:prstGeom prst="rect">
            <a:avLst/>
          </a:prstGeom>
        </p:spPr>
        <p:txBody>
          <a:bodyPr anchor="t" rtlCol="false" tIns="0" lIns="0" bIns="0" rIns="0">
            <a:spAutoFit/>
          </a:bodyPr>
          <a:lstStyle/>
          <a:p>
            <a:pPr algn="l">
              <a:lnSpc>
                <a:spcPts val="3359"/>
              </a:lnSpc>
            </a:pPr>
            <a:r>
              <a:rPr lang="en-US" sz="2400">
                <a:solidFill>
                  <a:srgbClr val="344E41"/>
                </a:solidFill>
                <a:latin typeface="Raleway"/>
                <a:ea typeface="Raleway"/>
                <a:cs typeface="Raleway"/>
                <a:sym typeface="Raleway"/>
              </a:rPr>
              <a:t>2026 March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DAHFZR0ZIIA</dc:identifier>
  <dcterms:modified xsi:type="dcterms:W3CDTF">2011-08-01T06:04:30Z</dcterms:modified>
  <cp:revision>1</cp:revision>
  <dc:title>A</dc:title>
</cp:coreProperties>
</file>